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Prata"/>
      <p:regular r:id="rId17"/>
    </p:embeddedFont>
    <p:embeddedFont>
      <p:font typeface="Prata"/>
      <p:regular r:id="rId18"/>
    </p:embeddedFont>
    <p:embeddedFont>
      <p:font typeface="Manrope"/>
      <p:regular r:id="rId19"/>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3171B"/>
          </a:solidFill>
          <a:ln/>
        </p:spPr>
      </p:sp>
      <p:sp>
        <p:nvSpPr>
          <p:cNvPr id="3" name="Shape 1"/>
          <p:cNvSpPr/>
          <p:nvPr/>
        </p:nvSpPr>
        <p:spPr>
          <a:xfrm>
            <a:off x="0" y="0"/>
            <a:ext cx="14630400" cy="8229600"/>
          </a:xfrm>
          <a:prstGeom prst="rect">
            <a:avLst/>
          </a:prstGeom>
          <a:solidFill>
            <a:srgbClr val="21232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3171B"/>
          </a:solidFill>
          <a:ln/>
        </p:spPr>
      </p:sp>
      <p:sp>
        <p:nvSpPr>
          <p:cNvPr id="3" name="Shape 1"/>
          <p:cNvSpPr/>
          <p:nvPr/>
        </p:nvSpPr>
        <p:spPr>
          <a:xfrm>
            <a:off x="0" y="0"/>
            <a:ext cx="14630400" cy="8229600"/>
          </a:xfrm>
          <a:prstGeom prst="rect">
            <a:avLst/>
          </a:prstGeom>
          <a:solidFill>
            <a:srgbClr val="21232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3171B"/>
          </a:solidFill>
          <a:ln/>
        </p:spPr>
      </p:sp>
      <p:sp>
        <p:nvSpPr>
          <p:cNvPr id="3" name="Shape 1"/>
          <p:cNvSpPr/>
          <p:nvPr/>
        </p:nvSpPr>
        <p:spPr>
          <a:xfrm>
            <a:off x="0" y="0"/>
            <a:ext cx="14630400" cy="8229600"/>
          </a:xfrm>
          <a:prstGeom prst="rect">
            <a:avLst/>
          </a:prstGeom>
          <a:solidFill>
            <a:srgbClr val="21232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3171B"/>
          </a:solidFill>
          <a:ln/>
        </p:spPr>
      </p:sp>
      <p:sp>
        <p:nvSpPr>
          <p:cNvPr id="3" name="Shape 1"/>
          <p:cNvSpPr/>
          <p:nvPr/>
        </p:nvSpPr>
        <p:spPr>
          <a:xfrm>
            <a:off x="0" y="0"/>
            <a:ext cx="14630400" cy="8229600"/>
          </a:xfrm>
          <a:prstGeom prst="rect">
            <a:avLst/>
          </a:prstGeom>
          <a:solidFill>
            <a:srgbClr val="21232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3171B"/>
          </a:solidFill>
          <a:ln/>
        </p:spPr>
      </p:sp>
      <p:sp>
        <p:nvSpPr>
          <p:cNvPr id="3" name="Shape 1"/>
          <p:cNvSpPr/>
          <p:nvPr/>
        </p:nvSpPr>
        <p:spPr>
          <a:xfrm>
            <a:off x="0" y="0"/>
            <a:ext cx="14630400" cy="8229600"/>
          </a:xfrm>
          <a:prstGeom prst="rect">
            <a:avLst/>
          </a:prstGeom>
          <a:solidFill>
            <a:srgbClr val="21232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3171B"/>
          </a:solidFill>
          <a:ln/>
        </p:spPr>
      </p:sp>
      <p:sp>
        <p:nvSpPr>
          <p:cNvPr id="3" name="Shape 1"/>
          <p:cNvSpPr/>
          <p:nvPr/>
        </p:nvSpPr>
        <p:spPr>
          <a:xfrm>
            <a:off x="0" y="0"/>
            <a:ext cx="14630400" cy="8229600"/>
          </a:xfrm>
          <a:prstGeom prst="rect">
            <a:avLst/>
          </a:prstGeom>
          <a:solidFill>
            <a:srgbClr val="21232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3171B"/>
          </a:solidFill>
          <a:ln/>
        </p:spPr>
      </p:sp>
      <p:sp>
        <p:nvSpPr>
          <p:cNvPr id="3" name="Shape 1"/>
          <p:cNvSpPr/>
          <p:nvPr/>
        </p:nvSpPr>
        <p:spPr>
          <a:xfrm>
            <a:off x="0" y="0"/>
            <a:ext cx="14630400" cy="8229600"/>
          </a:xfrm>
          <a:prstGeom prst="rect">
            <a:avLst/>
          </a:prstGeom>
          <a:solidFill>
            <a:srgbClr val="21232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3171B"/>
          </a:solidFill>
          <a:ln/>
        </p:spPr>
      </p:sp>
      <p:sp>
        <p:nvSpPr>
          <p:cNvPr id="3" name="Shape 1"/>
          <p:cNvSpPr/>
          <p:nvPr/>
        </p:nvSpPr>
        <p:spPr>
          <a:xfrm>
            <a:off x="0" y="0"/>
            <a:ext cx="14630400" cy="8229600"/>
          </a:xfrm>
          <a:prstGeom prst="rect">
            <a:avLst/>
          </a:prstGeom>
          <a:solidFill>
            <a:srgbClr val="21232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3171B"/>
          </a:solidFill>
          <a:ln/>
        </p:spPr>
      </p:sp>
      <p:sp>
        <p:nvSpPr>
          <p:cNvPr id="3" name="Shape 1"/>
          <p:cNvSpPr/>
          <p:nvPr/>
        </p:nvSpPr>
        <p:spPr>
          <a:xfrm>
            <a:off x="0" y="0"/>
            <a:ext cx="14630400" cy="8229600"/>
          </a:xfrm>
          <a:prstGeom prst="rect">
            <a:avLst/>
          </a:prstGeom>
          <a:solidFill>
            <a:srgbClr val="21232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3171B"/>
          </a:solidFill>
          <a:ln/>
        </p:spPr>
      </p:sp>
      <p:sp>
        <p:nvSpPr>
          <p:cNvPr id="3" name="Shape 1"/>
          <p:cNvSpPr/>
          <p:nvPr/>
        </p:nvSpPr>
        <p:spPr>
          <a:xfrm>
            <a:off x="0" y="0"/>
            <a:ext cx="14630400" cy="8229600"/>
          </a:xfrm>
          <a:prstGeom prst="rect">
            <a:avLst/>
          </a:prstGeom>
          <a:solidFill>
            <a:srgbClr val="212326"/>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image" Target="../media/image-3-4.png"/><Relationship Id="rId5" Type="http://schemas.openxmlformats.org/officeDocument/2006/relationships/image" Target="../media/image-3-5.svg"/><Relationship Id="rId6" Type="http://schemas.openxmlformats.org/officeDocument/2006/relationships/image" Target="../media/image-3-6.png"/><Relationship Id="rId7" Type="http://schemas.openxmlformats.org/officeDocument/2006/relationships/image" Target="../media/image-3-7.svg"/><Relationship Id="rId8" Type="http://schemas.openxmlformats.org/officeDocument/2006/relationships/slideLayout" Target="../slideLayouts/slideLayout4.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6.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svg"/><Relationship Id="rId5" Type="http://schemas.openxmlformats.org/officeDocument/2006/relationships/image" Target="../media/image-6-5.png"/><Relationship Id="rId6" Type="http://schemas.openxmlformats.org/officeDocument/2006/relationships/image" Target="../media/image-6-6.svg"/><Relationship Id="rId7" Type="http://schemas.openxmlformats.org/officeDocument/2006/relationships/slideLayout" Target="../slideLayouts/slideLayout7.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slideLayout" Target="../slideLayouts/slideLayout10.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564011"/>
            <a:ext cx="7556421" cy="1417558"/>
          </a:xfrm>
          <a:prstGeom prst="rect">
            <a:avLst/>
          </a:prstGeom>
          <a:noFill/>
          <a:ln/>
        </p:spPr>
        <p:txBody>
          <a:bodyPr wrap="square" lIns="0" tIns="0" rIns="0" bIns="0" rtlCol="0" anchor="t"/>
          <a:lstStyle/>
          <a:p>
            <a:pPr algn="l" indent="0" marL="0">
              <a:lnSpc>
                <a:spcPts val="5550"/>
              </a:lnSpc>
              <a:buNone/>
            </a:pPr>
            <a:r>
              <a:rPr lang="en-US" sz="4450" dirty="0">
                <a:solidFill>
                  <a:srgbClr val="F2D4BA"/>
                </a:solidFill>
                <a:latin typeface="Prata" pitchFamily="34" charset="0"/>
                <a:ea typeface="Prata" pitchFamily="34" charset="-122"/>
                <a:cs typeface="Prata" pitchFamily="34" charset="-120"/>
              </a:rPr>
              <a:t>Microgoals: Secure Goal Management Backend API</a:t>
            </a:r>
            <a:endParaRPr lang="en-US" sz="4450" dirty="0"/>
          </a:p>
        </p:txBody>
      </p:sp>
      <p:sp>
        <p:nvSpPr>
          <p:cNvPr id="4" name="Text 1"/>
          <p:cNvSpPr/>
          <p:nvPr/>
        </p:nvSpPr>
        <p:spPr>
          <a:xfrm>
            <a:off x="793790" y="4321731"/>
            <a:ext cx="7556421" cy="725805"/>
          </a:xfrm>
          <a:prstGeom prst="rect">
            <a:avLst/>
          </a:prstGeom>
          <a:noFill/>
          <a:ln/>
        </p:spPr>
        <p:txBody>
          <a:bodyPr wrap="square" lIns="0" tIns="0" rIns="0" bIns="0" rtlCol="0" anchor="t"/>
          <a:lstStyle/>
          <a:p>
            <a:pPr algn="l" indent="0" marL="0">
              <a:lnSpc>
                <a:spcPts val="2850"/>
              </a:lnSpc>
              <a:buNone/>
            </a:pPr>
            <a:r>
              <a:rPr lang="en-US" sz="1750" b="1" dirty="0">
                <a:solidFill>
                  <a:srgbClr val="BDA189"/>
                </a:solidFill>
                <a:latin typeface="Manrope" pitchFamily="34" charset="0"/>
                <a:ea typeface="Manrope" pitchFamily="34" charset="-122"/>
                <a:cs typeface="Manrope" pitchFamily="34" charset="-120"/>
              </a:rPr>
              <a:t>Development Team:</a:t>
            </a:r>
            <a:pPr algn="l" indent="0" marL="0">
              <a:lnSpc>
                <a:spcPts val="2850"/>
              </a:lnSpc>
              <a:buNone/>
            </a:pPr>
            <a:r>
              <a:rPr lang="en-US" sz="1750" dirty="0">
                <a:solidFill>
                  <a:srgbClr val="BDA189"/>
                </a:solidFill>
                <a:latin typeface="Manrope" pitchFamily="34" charset="0"/>
                <a:ea typeface="Manrope" pitchFamily="34" charset="-122"/>
                <a:cs typeface="Manrope" pitchFamily="34" charset="-120"/>
              </a:rPr>
              <a:t> Shree P, Mohammad Ezzath A, Deepak P, Gowtham P, Kameshwaran P</a:t>
            </a:r>
            <a:endParaRPr lang="en-US" sz="1750" dirty="0"/>
          </a:p>
        </p:txBody>
      </p:sp>
      <p:sp>
        <p:nvSpPr>
          <p:cNvPr id="5" name="Text 2"/>
          <p:cNvSpPr/>
          <p:nvPr/>
        </p:nvSpPr>
        <p:spPr>
          <a:xfrm>
            <a:off x="793790" y="5302687"/>
            <a:ext cx="7556421" cy="362903"/>
          </a:xfrm>
          <a:prstGeom prst="rect">
            <a:avLst/>
          </a:prstGeom>
          <a:noFill/>
          <a:ln/>
        </p:spPr>
        <p:txBody>
          <a:bodyPr wrap="none" lIns="0" tIns="0" rIns="0" bIns="0" rtlCol="0" anchor="t"/>
          <a:lstStyle/>
          <a:p>
            <a:pPr algn="l" indent="0" marL="0">
              <a:lnSpc>
                <a:spcPts val="2850"/>
              </a:lnSpc>
              <a:buNone/>
            </a:pPr>
            <a:r>
              <a:rPr lang="en-US" sz="1750" b="1" dirty="0">
                <a:solidFill>
                  <a:srgbClr val="BDA189"/>
                </a:solidFill>
                <a:latin typeface="Manrope" pitchFamily="34" charset="0"/>
                <a:ea typeface="Manrope" pitchFamily="34" charset="-122"/>
                <a:cs typeface="Manrope" pitchFamily="34" charset="-120"/>
              </a:rPr>
              <a:t>Institution:</a:t>
            </a:r>
            <a:pPr algn="l" indent="0" marL="0">
              <a:lnSpc>
                <a:spcPts val="2850"/>
              </a:lnSpc>
              <a:buNone/>
            </a:pPr>
            <a:r>
              <a:rPr lang="en-US" sz="1750" dirty="0">
                <a:solidFill>
                  <a:srgbClr val="BDA189"/>
                </a:solidFill>
                <a:latin typeface="Manrope" pitchFamily="34" charset="0"/>
                <a:ea typeface="Manrope" pitchFamily="34" charset="-122"/>
                <a:cs typeface="Manrope" pitchFamily="34" charset="-120"/>
              </a:rPr>
              <a:t> Arulmigu Kapaleeswarar Arts and Science College</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93790" y="1802963"/>
            <a:ext cx="8284131" cy="4623673"/>
          </a:xfrm>
          <a:prstGeom prst="rect">
            <a:avLst/>
          </a:prstGeom>
        </p:spPr>
      </p:pic>
      <p:sp>
        <p:nvSpPr>
          <p:cNvPr id="3" name="Text 0"/>
          <p:cNvSpPr/>
          <p:nvPr/>
        </p:nvSpPr>
        <p:spPr>
          <a:xfrm>
            <a:off x="9638943" y="1812727"/>
            <a:ext cx="4205168" cy="1133951"/>
          </a:xfrm>
          <a:prstGeom prst="rect">
            <a:avLst/>
          </a:prstGeom>
          <a:noFill/>
          <a:ln/>
        </p:spPr>
        <p:txBody>
          <a:bodyPr wrap="square" lIns="0" tIns="0" rIns="0" bIns="0" rtlCol="0" anchor="t"/>
          <a:lstStyle/>
          <a:p>
            <a:pPr algn="l" indent="0" marL="0">
              <a:lnSpc>
                <a:spcPts val="4450"/>
              </a:lnSpc>
              <a:buNone/>
            </a:pPr>
            <a:r>
              <a:rPr lang="en-US" sz="3550" dirty="0">
                <a:solidFill>
                  <a:srgbClr val="F2D4BA"/>
                </a:solidFill>
                <a:latin typeface="Prata" pitchFamily="34" charset="0"/>
                <a:ea typeface="Prata" pitchFamily="34" charset="-122"/>
                <a:cs typeface="Prata" pitchFamily="34" charset="-120"/>
              </a:rPr>
              <a:t>Introduction to Microgoals</a:t>
            </a:r>
            <a:endParaRPr lang="en-US" sz="3550" dirty="0"/>
          </a:p>
        </p:txBody>
      </p:sp>
      <p:sp>
        <p:nvSpPr>
          <p:cNvPr id="4" name="Text 1"/>
          <p:cNvSpPr/>
          <p:nvPr/>
        </p:nvSpPr>
        <p:spPr>
          <a:xfrm>
            <a:off x="9638943" y="3173492"/>
            <a:ext cx="4205168" cy="3266123"/>
          </a:xfrm>
          <a:prstGeom prst="rect">
            <a:avLst/>
          </a:prstGeom>
          <a:noFill/>
          <a:ln/>
        </p:spPr>
        <p:txBody>
          <a:bodyPr wrap="square" lIns="0" tIns="0" rIns="0" bIns="0" rtlCol="0" anchor="t"/>
          <a:lstStyle/>
          <a:p>
            <a:pPr algn="l" indent="0" marL="0">
              <a:lnSpc>
                <a:spcPts val="2850"/>
              </a:lnSpc>
              <a:buNone/>
            </a:pPr>
            <a:r>
              <a:rPr lang="en-US" sz="1750" dirty="0">
                <a:solidFill>
                  <a:srgbClr val="BDA189"/>
                </a:solidFill>
                <a:latin typeface="Manrope" pitchFamily="34" charset="0"/>
                <a:ea typeface="Manrope" pitchFamily="34" charset="-122"/>
                <a:cs typeface="Manrope" pitchFamily="34" charset="-120"/>
              </a:rPr>
              <a:t>Microgoals is a sophisticated backend architecture designed to streamline objective setting. By focusing on granular, manageable tasks, the platform empowers users to break down complex ambitions into actionable data points, ensuring steady progress and measurable outcomes in any professional or academic environment.</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911662"/>
            <a:ext cx="8195429" cy="566976"/>
          </a:xfrm>
          <a:prstGeom prst="rect">
            <a:avLst/>
          </a:prstGeom>
          <a:noFill/>
          <a:ln/>
        </p:spPr>
        <p:txBody>
          <a:bodyPr wrap="none" lIns="0" tIns="0" rIns="0" bIns="0" rtlCol="0" anchor="t"/>
          <a:lstStyle/>
          <a:p>
            <a:pPr algn="l" indent="0" marL="0">
              <a:lnSpc>
                <a:spcPts val="4450"/>
              </a:lnSpc>
              <a:buNone/>
            </a:pPr>
            <a:r>
              <a:rPr lang="en-US" sz="3550" dirty="0">
                <a:solidFill>
                  <a:srgbClr val="F2D4BA"/>
                </a:solidFill>
                <a:latin typeface="Prata" pitchFamily="34" charset="0"/>
                <a:ea typeface="Prata" pitchFamily="34" charset="-122"/>
                <a:cs typeface="Prata" pitchFamily="34" charset="-120"/>
              </a:rPr>
              <a:t>The Importance of Goal Management</a:t>
            </a:r>
            <a:endParaRPr lang="en-US" sz="3550" dirty="0"/>
          </a:p>
        </p:txBody>
      </p:sp>
      <p:pic>
        <p:nvPicPr>
          <p:cNvPr id="3" name="Image 0" descr="preencoded.png">    </p:cNvPr>
          <p:cNvPicPr>
            <a:picLocks noChangeAspect="1"/>
          </p:cNvPicPr>
          <p:nvPr/>
        </p:nvPicPr>
        <p:blipFill>
          <a:blip r:embed="rId1"/>
          <a:stretch>
            <a:fillRect/>
          </a:stretch>
        </p:blipFill>
        <p:spPr>
          <a:xfrm>
            <a:off x="861893" y="1932265"/>
            <a:ext cx="12906613" cy="5385673"/>
          </a:xfrm>
          <a:prstGeom prst="rect">
            <a:avLst/>
          </a:prstGeom>
        </p:spPr>
      </p:pic>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944904" y="4762086"/>
            <a:ext cx="482984" cy="482984"/>
          </a:xfrm>
          <a:prstGeom prst="rect">
            <a:avLst/>
          </a:prstGeom>
        </p:spPr>
      </p:pic>
      <p:sp>
        <p:nvSpPr>
          <p:cNvPr id="5" name="Text 1"/>
          <p:cNvSpPr/>
          <p:nvPr/>
        </p:nvSpPr>
        <p:spPr>
          <a:xfrm>
            <a:off x="8430948" y="2180466"/>
            <a:ext cx="2934585" cy="366823"/>
          </a:xfrm>
          <a:prstGeom prst="rect">
            <a:avLst/>
          </a:prstGeom>
          <a:noFill/>
          <a:ln/>
        </p:spPr>
        <p:txBody>
          <a:bodyPr wrap="none" lIns="0" tIns="0" rIns="0" bIns="0" rtlCol="0" anchor="t"/>
          <a:lstStyle/>
          <a:p>
            <a:pPr algn="l" indent="0" marL="0">
              <a:lnSpc>
                <a:spcPts val="2850"/>
              </a:lnSpc>
              <a:buNone/>
            </a:pPr>
            <a:r>
              <a:rPr lang="en-US" sz="2300" dirty="0">
                <a:solidFill>
                  <a:srgbClr val="F2D4BA"/>
                </a:solidFill>
                <a:latin typeface="Prata" pitchFamily="34" charset="0"/>
                <a:ea typeface="Prata" pitchFamily="34" charset="-122"/>
                <a:cs typeface="Prata" pitchFamily="34" charset="-120"/>
              </a:rPr>
              <a:t>Clarity</a:t>
            </a:r>
            <a:endParaRPr lang="en-US" sz="2300" dirty="0"/>
          </a:p>
        </p:txBody>
      </p:sp>
      <p:sp>
        <p:nvSpPr>
          <p:cNvPr id="6" name="Text 2"/>
          <p:cNvSpPr/>
          <p:nvPr/>
        </p:nvSpPr>
        <p:spPr>
          <a:xfrm>
            <a:off x="8430948" y="2651630"/>
            <a:ext cx="5030367" cy="293459"/>
          </a:xfrm>
          <a:prstGeom prst="rect">
            <a:avLst/>
          </a:prstGeom>
          <a:noFill/>
          <a:ln/>
        </p:spPr>
        <p:txBody>
          <a:bodyPr wrap="none" lIns="0" tIns="0" rIns="0" bIns="0" rtlCol="0" anchor="t"/>
          <a:lstStyle/>
          <a:p>
            <a:pPr algn="l" indent="0" marL="0">
              <a:lnSpc>
                <a:spcPts val="2300"/>
              </a:lnSpc>
              <a:buNone/>
            </a:pPr>
            <a:r>
              <a:rPr lang="en-US" sz="1800" dirty="0">
                <a:solidFill>
                  <a:srgbClr val="BDA189"/>
                </a:solidFill>
                <a:latin typeface="Manrope" pitchFamily="34" charset="0"/>
                <a:ea typeface="Manrope" pitchFamily="34" charset="-122"/>
                <a:cs typeface="Manrope" pitchFamily="34" charset="-120"/>
              </a:rPr>
              <a:t>Define clear, measurable objectives</a:t>
            </a:r>
            <a:endParaRPr lang="en-US" sz="1800" dirty="0"/>
          </a:p>
        </p:txBody>
      </p:sp>
      <p:pic>
        <p:nvPicPr>
          <p:cNvPr id="7"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470888" y="4762086"/>
            <a:ext cx="482984" cy="482984"/>
          </a:xfrm>
          <a:prstGeom prst="rect">
            <a:avLst/>
          </a:prstGeom>
        </p:spPr>
      </p:pic>
      <p:sp>
        <p:nvSpPr>
          <p:cNvPr id="8" name="Text 3"/>
          <p:cNvSpPr/>
          <p:nvPr/>
        </p:nvSpPr>
        <p:spPr>
          <a:xfrm>
            <a:off x="8431151" y="3933066"/>
            <a:ext cx="2934585" cy="366823"/>
          </a:xfrm>
          <a:prstGeom prst="rect">
            <a:avLst/>
          </a:prstGeom>
          <a:noFill/>
          <a:ln/>
        </p:spPr>
        <p:txBody>
          <a:bodyPr wrap="none" lIns="0" tIns="0" rIns="0" bIns="0" rtlCol="0" anchor="t"/>
          <a:lstStyle/>
          <a:p>
            <a:pPr algn="l" indent="0" marL="0">
              <a:lnSpc>
                <a:spcPts val="2850"/>
              </a:lnSpc>
              <a:buNone/>
            </a:pPr>
            <a:r>
              <a:rPr lang="en-US" sz="2300" dirty="0">
                <a:solidFill>
                  <a:srgbClr val="F2D4BA"/>
                </a:solidFill>
                <a:latin typeface="Prata" pitchFamily="34" charset="0"/>
                <a:ea typeface="Prata" pitchFamily="34" charset="-122"/>
                <a:cs typeface="Prata" pitchFamily="34" charset="-120"/>
              </a:rPr>
              <a:t>Accountability</a:t>
            </a:r>
            <a:endParaRPr lang="en-US" sz="2300" dirty="0"/>
          </a:p>
        </p:txBody>
      </p:sp>
      <p:sp>
        <p:nvSpPr>
          <p:cNvPr id="9" name="Text 4"/>
          <p:cNvSpPr/>
          <p:nvPr/>
        </p:nvSpPr>
        <p:spPr>
          <a:xfrm>
            <a:off x="8431151" y="4404229"/>
            <a:ext cx="5030367" cy="293459"/>
          </a:xfrm>
          <a:prstGeom prst="rect">
            <a:avLst/>
          </a:prstGeom>
          <a:noFill/>
          <a:ln/>
        </p:spPr>
        <p:txBody>
          <a:bodyPr wrap="none" lIns="0" tIns="0" rIns="0" bIns="0" rtlCol="0" anchor="t"/>
          <a:lstStyle/>
          <a:p>
            <a:pPr algn="l" indent="0" marL="0">
              <a:lnSpc>
                <a:spcPts val="2300"/>
              </a:lnSpc>
              <a:buNone/>
            </a:pPr>
            <a:r>
              <a:rPr lang="en-US" sz="1800" dirty="0">
                <a:solidFill>
                  <a:srgbClr val="BDA189"/>
                </a:solidFill>
                <a:latin typeface="Manrope" pitchFamily="34" charset="0"/>
                <a:ea typeface="Manrope" pitchFamily="34" charset="-122"/>
                <a:cs typeface="Manrope" pitchFamily="34" charset="-120"/>
              </a:rPr>
              <a:t>Assign owners and review progress</a:t>
            </a:r>
            <a:endParaRPr lang="en-US" sz="1800" dirty="0"/>
          </a:p>
        </p:txBody>
      </p:sp>
      <p:pic>
        <p:nvPicPr>
          <p:cNvPr id="10"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983829" y="4762086"/>
            <a:ext cx="482984" cy="482984"/>
          </a:xfrm>
          <a:prstGeom prst="rect">
            <a:avLst/>
          </a:prstGeom>
        </p:spPr>
      </p:pic>
      <p:sp>
        <p:nvSpPr>
          <p:cNvPr id="11" name="Text 5"/>
          <p:cNvSpPr/>
          <p:nvPr/>
        </p:nvSpPr>
        <p:spPr>
          <a:xfrm>
            <a:off x="8431151" y="5740892"/>
            <a:ext cx="2934585" cy="366823"/>
          </a:xfrm>
          <a:prstGeom prst="rect">
            <a:avLst/>
          </a:prstGeom>
          <a:noFill/>
          <a:ln/>
        </p:spPr>
        <p:txBody>
          <a:bodyPr wrap="none" lIns="0" tIns="0" rIns="0" bIns="0" rtlCol="0" anchor="t"/>
          <a:lstStyle/>
          <a:p>
            <a:pPr algn="l" indent="0" marL="0">
              <a:lnSpc>
                <a:spcPts val="2850"/>
              </a:lnSpc>
              <a:buNone/>
            </a:pPr>
            <a:r>
              <a:rPr lang="en-US" sz="2300" dirty="0">
                <a:solidFill>
                  <a:srgbClr val="F2D4BA"/>
                </a:solidFill>
                <a:latin typeface="Prata" pitchFamily="34" charset="0"/>
                <a:ea typeface="Prata" pitchFamily="34" charset="-122"/>
                <a:cs typeface="Prata" pitchFamily="34" charset="-120"/>
              </a:rPr>
              <a:t>Consistent Progress</a:t>
            </a:r>
            <a:endParaRPr lang="en-US" sz="2300" dirty="0"/>
          </a:p>
        </p:txBody>
      </p:sp>
      <p:sp>
        <p:nvSpPr>
          <p:cNvPr id="12" name="Text 6"/>
          <p:cNvSpPr/>
          <p:nvPr/>
        </p:nvSpPr>
        <p:spPr>
          <a:xfrm>
            <a:off x="8431151" y="6212056"/>
            <a:ext cx="5030367" cy="293458"/>
          </a:xfrm>
          <a:prstGeom prst="rect">
            <a:avLst/>
          </a:prstGeom>
          <a:noFill/>
          <a:ln/>
        </p:spPr>
        <p:txBody>
          <a:bodyPr wrap="none" lIns="0" tIns="0" rIns="0" bIns="0" rtlCol="0" anchor="t"/>
          <a:lstStyle/>
          <a:p>
            <a:pPr algn="l" indent="0" marL="0">
              <a:lnSpc>
                <a:spcPts val="2300"/>
              </a:lnSpc>
              <a:buNone/>
            </a:pPr>
            <a:r>
              <a:rPr lang="en-US" sz="1800" dirty="0">
                <a:solidFill>
                  <a:srgbClr val="BDA189"/>
                </a:solidFill>
                <a:latin typeface="Manrope" pitchFamily="34" charset="0"/>
                <a:ea typeface="Manrope" pitchFamily="34" charset="-122"/>
                <a:cs typeface="Manrope" pitchFamily="34" charset="-120"/>
              </a:rPr>
              <a:t>Track incremental wins regularly</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512332"/>
            <a:ext cx="4205168" cy="1133951"/>
          </a:xfrm>
          <a:prstGeom prst="rect">
            <a:avLst/>
          </a:prstGeom>
          <a:noFill/>
          <a:ln/>
        </p:spPr>
        <p:txBody>
          <a:bodyPr wrap="square" lIns="0" tIns="0" rIns="0" bIns="0" rtlCol="0" anchor="t"/>
          <a:lstStyle/>
          <a:p>
            <a:pPr algn="l" indent="0" marL="0">
              <a:lnSpc>
                <a:spcPts val="4450"/>
              </a:lnSpc>
              <a:buNone/>
            </a:pPr>
            <a:r>
              <a:rPr lang="en-US" sz="3550" dirty="0">
                <a:solidFill>
                  <a:srgbClr val="F2D4BA"/>
                </a:solidFill>
                <a:latin typeface="Prata" pitchFamily="34" charset="0"/>
                <a:ea typeface="Prata" pitchFamily="34" charset="-122"/>
                <a:cs typeface="Prata" pitchFamily="34" charset="-120"/>
              </a:rPr>
              <a:t>Purpose of the Project</a:t>
            </a:r>
            <a:endParaRPr lang="en-US" sz="3550" dirty="0"/>
          </a:p>
        </p:txBody>
      </p:sp>
      <p:sp>
        <p:nvSpPr>
          <p:cNvPr id="3" name="Text 1"/>
          <p:cNvSpPr/>
          <p:nvPr/>
        </p:nvSpPr>
        <p:spPr>
          <a:xfrm>
            <a:off x="793790" y="2873097"/>
            <a:ext cx="4205168" cy="1451610"/>
          </a:xfrm>
          <a:prstGeom prst="rect">
            <a:avLst/>
          </a:prstGeom>
          <a:noFill/>
          <a:ln/>
        </p:spPr>
        <p:txBody>
          <a:bodyPr wrap="square" lIns="0" tIns="0" rIns="0" bIns="0" rtlCol="0" anchor="t"/>
          <a:lstStyle/>
          <a:p>
            <a:pPr algn="l" indent="0" marL="0">
              <a:lnSpc>
                <a:spcPts val="2850"/>
              </a:lnSpc>
              <a:buNone/>
            </a:pPr>
            <a:r>
              <a:rPr lang="en-US" sz="1750" dirty="0">
                <a:solidFill>
                  <a:srgbClr val="BDA189"/>
                </a:solidFill>
                <a:latin typeface="Manrope" pitchFamily="34" charset="0"/>
                <a:ea typeface="Manrope" pitchFamily="34" charset="-122"/>
                <a:cs typeface="Manrope" pitchFamily="34" charset="-120"/>
              </a:rPr>
              <a:t>This project aims to build a robust, high-performance API that serves as the central nervous system for goal tracking. Our core objectives include:</a:t>
            </a:r>
            <a:endParaRPr lang="en-US" sz="1750" dirty="0"/>
          </a:p>
        </p:txBody>
      </p:sp>
      <p:sp>
        <p:nvSpPr>
          <p:cNvPr id="4" name="Text 2"/>
          <p:cNvSpPr/>
          <p:nvPr/>
        </p:nvSpPr>
        <p:spPr>
          <a:xfrm>
            <a:off x="793790" y="4528780"/>
            <a:ext cx="4205168" cy="2336006"/>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BDA189"/>
                </a:solidFill>
                <a:latin typeface="Manrope" pitchFamily="34" charset="0"/>
                <a:ea typeface="Manrope" pitchFamily="34" charset="-122"/>
                <a:cs typeface="Manrope" pitchFamily="34" charset="-120"/>
              </a:rPr>
              <a:t>Standardizing goal tracking processes.</a:t>
            </a:r>
            <a:endParaRPr lang="en-US" sz="1750" dirty="0"/>
          </a:p>
          <a:p>
            <a:pPr algn="l" marL="342900" indent="-342900">
              <a:lnSpc>
                <a:spcPts val="2850"/>
              </a:lnSpc>
              <a:buSzPct val="100000"/>
              <a:buChar char="•"/>
            </a:pPr>
            <a:r>
              <a:rPr lang="en-US" sz="1750" dirty="0">
                <a:solidFill>
                  <a:srgbClr val="BDA189"/>
                </a:solidFill>
                <a:latin typeface="Manrope" pitchFamily="34" charset="0"/>
                <a:ea typeface="Manrope" pitchFamily="34" charset="-122"/>
                <a:cs typeface="Manrope" pitchFamily="34" charset="-120"/>
              </a:rPr>
              <a:t>Providing seamless integration for front-end applications.</a:t>
            </a:r>
            <a:endParaRPr lang="en-US" sz="1750" dirty="0"/>
          </a:p>
          <a:p>
            <a:pPr algn="l" marL="342900" indent="-342900">
              <a:lnSpc>
                <a:spcPts val="2850"/>
              </a:lnSpc>
              <a:buSzPct val="100000"/>
              <a:buChar char="•"/>
            </a:pPr>
            <a:r>
              <a:rPr lang="en-US" sz="1750" dirty="0">
                <a:solidFill>
                  <a:srgbClr val="BDA189"/>
                </a:solidFill>
                <a:latin typeface="Manrope" pitchFamily="34" charset="0"/>
                <a:ea typeface="Manrope" pitchFamily="34" charset="-122"/>
                <a:cs typeface="Manrope" pitchFamily="34" charset="-120"/>
              </a:rPr>
              <a:t>Ensuring data integrity and security for sensitive user progress metrics.</a:t>
            </a:r>
            <a:endParaRPr lang="en-US" sz="1750" dirty="0"/>
          </a:p>
        </p:txBody>
      </p:sp>
      <p:pic>
        <p:nvPicPr>
          <p:cNvPr id="5" name="Image 0" descr="preencoded.png">    </p:cNvPr>
          <p:cNvPicPr>
            <a:picLocks noChangeAspect="1"/>
          </p:cNvPicPr>
          <p:nvPr/>
        </p:nvPicPr>
        <p:blipFill>
          <a:blip r:embed="rId1"/>
          <a:stretch>
            <a:fillRect/>
          </a:stretch>
        </p:blipFill>
        <p:spPr>
          <a:xfrm>
            <a:off x="5559981" y="1802963"/>
            <a:ext cx="8284131" cy="462367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55000" y="506968"/>
            <a:ext cx="4536281" cy="460891"/>
          </a:xfrm>
          <a:prstGeom prst="rect">
            <a:avLst/>
          </a:prstGeom>
          <a:noFill/>
          <a:ln/>
        </p:spPr>
        <p:txBody>
          <a:bodyPr wrap="none" lIns="0" tIns="0" rIns="0" bIns="0" rtlCol="0" anchor="t"/>
          <a:lstStyle/>
          <a:p>
            <a:pPr algn="l" indent="0" marL="0">
              <a:lnSpc>
                <a:spcPts val="3600"/>
              </a:lnSpc>
              <a:buNone/>
            </a:pPr>
            <a:r>
              <a:rPr lang="en-US" sz="2900" dirty="0">
                <a:solidFill>
                  <a:srgbClr val="F2D4BA"/>
                </a:solidFill>
                <a:latin typeface="Prata" pitchFamily="34" charset="0"/>
                <a:ea typeface="Prata" pitchFamily="34" charset="-122"/>
                <a:cs typeface="Prata" pitchFamily="34" charset="-120"/>
              </a:rPr>
              <a:t>System Architecture Flow</a:t>
            </a:r>
            <a:endParaRPr lang="en-US" sz="2900" dirty="0"/>
          </a:p>
        </p:txBody>
      </p:sp>
      <p:pic>
        <p:nvPicPr>
          <p:cNvPr id="3" name="Image 0" descr="preencoded.png">    </p:cNvPr>
          <p:cNvPicPr>
            <a:picLocks noChangeAspect="1"/>
          </p:cNvPicPr>
          <p:nvPr/>
        </p:nvPicPr>
        <p:blipFill>
          <a:blip r:embed="rId1"/>
          <a:stretch>
            <a:fillRect/>
          </a:stretch>
        </p:blipFill>
        <p:spPr>
          <a:xfrm>
            <a:off x="955000" y="1267420"/>
            <a:ext cx="10485120" cy="5852160"/>
          </a:xfrm>
          <a:prstGeom prst="rect">
            <a:avLst/>
          </a:prstGeom>
        </p:spPr>
      </p:pic>
      <p:pic>
        <p:nvPicPr>
          <p:cNvPr id="4" name="Image 1" descr="preencoded.png">    </p:cNvPr>
          <p:cNvPicPr>
            <a:picLocks noChangeAspect="1"/>
          </p:cNvPicPr>
          <p:nvPr/>
        </p:nvPicPr>
        <p:blipFill>
          <a:blip r:embed="rId2"/>
          <a:stretch>
            <a:fillRect/>
          </a:stretch>
        </p:blipFill>
        <p:spPr>
          <a:xfrm>
            <a:off x="955000" y="1267420"/>
            <a:ext cx="10485120" cy="5852160"/>
          </a:xfrm>
          <a:prstGeom prst="rect">
            <a:avLst/>
          </a:prstGeom>
        </p:spPr>
      </p:pic>
      <p:sp>
        <p:nvSpPr>
          <p:cNvPr id="5" name="Text 1"/>
          <p:cNvSpPr/>
          <p:nvPr/>
        </p:nvSpPr>
        <p:spPr>
          <a:xfrm>
            <a:off x="955000" y="7288054"/>
            <a:ext cx="12720280" cy="534352"/>
          </a:xfrm>
          <a:prstGeom prst="rect">
            <a:avLst/>
          </a:prstGeom>
          <a:noFill/>
          <a:ln/>
        </p:spPr>
        <p:txBody>
          <a:bodyPr wrap="square" lIns="0" tIns="0" rIns="0" bIns="0" rtlCol="0" anchor="t"/>
          <a:lstStyle/>
          <a:p>
            <a:pPr algn="l" indent="0" marL="0">
              <a:lnSpc>
                <a:spcPts val="2100"/>
              </a:lnSpc>
              <a:buNone/>
            </a:pPr>
            <a:r>
              <a:rPr lang="en-US" sz="1450" dirty="0">
                <a:solidFill>
                  <a:srgbClr val="BDA189"/>
                </a:solidFill>
                <a:latin typeface="Manrope" pitchFamily="34" charset="0"/>
                <a:ea typeface="Manrope" pitchFamily="34" charset="-122"/>
                <a:cs typeface="Manrope" pitchFamily="34" charset="-120"/>
              </a:rPr>
              <a:t>The Microgoals system operates through a modular API structure. Users submit goals which are validated by our secure gateway, processed through business logic layers, and stored in a high-availability database to provide real-time updates.</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2315885"/>
            <a:ext cx="5033129" cy="566976"/>
          </a:xfrm>
          <a:prstGeom prst="rect">
            <a:avLst/>
          </a:prstGeom>
          <a:noFill/>
          <a:ln/>
        </p:spPr>
        <p:txBody>
          <a:bodyPr wrap="none" lIns="0" tIns="0" rIns="0" bIns="0" rtlCol="0" anchor="t"/>
          <a:lstStyle/>
          <a:p>
            <a:pPr algn="l" indent="0" marL="0">
              <a:lnSpc>
                <a:spcPts val="4450"/>
              </a:lnSpc>
              <a:buNone/>
            </a:pPr>
            <a:r>
              <a:rPr lang="en-US" sz="3550" dirty="0">
                <a:solidFill>
                  <a:srgbClr val="F2D4BA"/>
                </a:solidFill>
                <a:latin typeface="Prata" pitchFamily="34" charset="0"/>
                <a:ea typeface="Prata" pitchFamily="34" charset="-122"/>
                <a:cs typeface="Prata" pitchFamily="34" charset="-120"/>
              </a:rPr>
              <a:t>Core System Functions</a:t>
            </a:r>
            <a:endParaRPr lang="en-US" sz="3550" dirty="0"/>
          </a:p>
        </p:txBody>
      </p:sp>
      <p:sp>
        <p:nvSpPr>
          <p:cNvPr id="3" name="Shape 1"/>
          <p:cNvSpPr/>
          <p:nvPr/>
        </p:nvSpPr>
        <p:spPr>
          <a:xfrm>
            <a:off x="793790" y="3336488"/>
            <a:ext cx="4196358" cy="2577108"/>
          </a:xfrm>
          <a:prstGeom prst="roundRect">
            <a:avLst>
              <a:gd name="adj" fmla="val 1320"/>
            </a:avLst>
          </a:prstGeom>
          <a:solidFill>
            <a:srgbClr val="404245"/>
          </a:solidFill>
          <a:ln/>
        </p:spPr>
      </p:sp>
      <p:sp>
        <p:nvSpPr>
          <p:cNvPr id="4" name="Shape 2"/>
          <p:cNvSpPr/>
          <p:nvPr/>
        </p:nvSpPr>
        <p:spPr>
          <a:xfrm>
            <a:off x="1020604" y="3563303"/>
            <a:ext cx="680442" cy="680442"/>
          </a:xfrm>
          <a:prstGeom prst="roundRect">
            <a:avLst>
              <a:gd name="adj" fmla="val 13436980"/>
            </a:avLst>
          </a:prstGeom>
          <a:solidFill>
            <a:srgbClr val="84482D"/>
          </a:solidFill>
          <a:ln/>
        </p:spPr>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207770" y="3750350"/>
            <a:ext cx="306110" cy="306110"/>
          </a:xfrm>
          <a:prstGeom prst="rect">
            <a:avLst/>
          </a:prstGeom>
        </p:spPr>
      </p:pic>
      <p:sp>
        <p:nvSpPr>
          <p:cNvPr id="6" name="Text 3"/>
          <p:cNvSpPr/>
          <p:nvPr/>
        </p:nvSpPr>
        <p:spPr>
          <a:xfrm>
            <a:off x="1020604" y="4470559"/>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FFFFFF"/>
                </a:solidFill>
                <a:latin typeface="Prata" pitchFamily="34" charset="0"/>
                <a:ea typeface="Prata" pitchFamily="34" charset="-122"/>
                <a:cs typeface="Prata" pitchFamily="34" charset="-120"/>
              </a:rPr>
              <a:t>Goal Creation</a:t>
            </a:r>
            <a:endParaRPr lang="en-US" sz="2200" dirty="0"/>
          </a:p>
        </p:txBody>
      </p:sp>
      <p:sp>
        <p:nvSpPr>
          <p:cNvPr id="7" name="Text 4"/>
          <p:cNvSpPr/>
          <p:nvPr/>
        </p:nvSpPr>
        <p:spPr>
          <a:xfrm>
            <a:off x="1020604" y="4960977"/>
            <a:ext cx="3742730" cy="725805"/>
          </a:xfrm>
          <a:prstGeom prst="rect">
            <a:avLst/>
          </a:prstGeom>
          <a:noFill/>
          <a:ln/>
        </p:spPr>
        <p:txBody>
          <a:bodyPr wrap="square" lIns="0" tIns="0" rIns="0" bIns="0" rtlCol="0" anchor="t"/>
          <a:lstStyle/>
          <a:p>
            <a:pPr algn="l" indent="0" marL="0">
              <a:lnSpc>
                <a:spcPts val="2850"/>
              </a:lnSpc>
              <a:buNone/>
            </a:pPr>
            <a:r>
              <a:rPr lang="en-US" sz="1750" dirty="0">
                <a:solidFill>
                  <a:srgbClr val="FFFFFF"/>
                </a:solidFill>
                <a:latin typeface="Manrope" pitchFamily="34" charset="0"/>
                <a:ea typeface="Manrope" pitchFamily="34" charset="-122"/>
                <a:cs typeface="Manrope" pitchFamily="34" charset="-120"/>
              </a:rPr>
              <a:t>Simplified CRUD operations for defining new objectives.</a:t>
            </a:r>
            <a:endParaRPr lang="en-US" sz="1750" dirty="0"/>
          </a:p>
        </p:txBody>
      </p:sp>
      <p:sp>
        <p:nvSpPr>
          <p:cNvPr id="8" name="Shape 5"/>
          <p:cNvSpPr/>
          <p:nvPr/>
        </p:nvSpPr>
        <p:spPr>
          <a:xfrm>
            <a:off x="5216962" y="3336488"/>
            <a:ext cx="4196358" cy="2577108"/>
          </a:xfrm>
          <a:prstGeom prst="roundRect">
            <a:avLst>
              <a:gd name="adj" fmla="val 1320"/>
            </a:avLst>
          </a:prstGeom>
          <a:solidFill>
            <a:srgbClr val="404245"/>
          </a:solidFill>
          <a:ln/>
        </p:spPr>
      </p:sp>
      <p:sp>
        <p:nvSpPr>
          <p:cNvPr id="9" name="Shape 6"/>
          <p:cNvSpPr/>
          <p:nvPr/>
        </p:nvSpPr>
        <p:spPr>
          <a:xfrm>
            <a:off x="5443776" y="3563303"/>
            <a:ext cx="680442" cy="680442"/>
          </a:xfrm>
          <a:prstGeom prst="roundRect">
            <a:avLst>
              <a:gd name="adj" fmla="val 13436980"/>
            </a:avLst>
          </a:prstGeom>
          <a:solidFill>
            <a:srgbClr val="84482D"/>
          </a:solidFill>
          <a:ln/>
        </p:spPr>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30942" y="3750350"/>
            <a:ext cx="306110" cy="306110"/>
          </a:xfrm>
          <a:prstGeom prst="rect">
            <a:avLst/>
          </a:prstGeom>
        </p:spPr>
      </p:pic>
      <p:sp>
        <p:nvSpPr>
          <p:cNvPr id="11" name="Text 7"/>
          <p:cNvSpPr/>
          <p:nvPr/>
        </p:nvSpPr>
        <p:spPr>
          <a:xfrm>
            <a:off x="5443776" y="4470559"/>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FFFFFF"/>
                </a:solidFill>
                <a:latin typeface="Prata" pitchFamily="34" charset="0"/>
                <a:ea typeface="Prata" pitchFamily="34" charset="-122"/>
                <a:cs typeface="Prata" pitchFamily="34" charset="-120"/>
              </a:rPr>
              <a:t>Progress Tracking</a:t>
            </a:r>
            <a:endParaRPr lang="en-US" sz="2200" dirty="0"/>
          </a:p>
        </p:txBody>
      </p:sp>
      <p:sp>
        <p:nvSpPr>
          <p:cNvPr id="12" name="Text 8"/>
          <p:cNvSpPr/>
          <p:nvPr/>
        </p:nvSpPr>
        <p:spPr>
          <a:xfrm>
            <a:off x="5443776" y="4960977"/>
            <a:ext cx="3742730" cy="725805"/>
          </a:xfrm>
          <a:prstGeom prst="rect">
            <a:avLst/>
          </a:prstGeom>
          <a:noFill/>
          <a:ln/>
        </p:spPr>
        <p:txBody>
          <a:bodyPr wrap="square" lIns="0" tIns="0" rIns="0" bIns="0" rtlCol="0" anchor="t"/>
          <a:lstStyle/>
          <a:p>
            <a:pPr algn="l" indent="0" marL="0">
              <a:lnSpc>
                <a:spcPts val="2850"/>
              </a:lnSpc>
              <a:buNone/>
            </a:pPr>
            <a:r>
              <a:rPr lang="en-US" sz="1750" dirty="0">
                <a:solidFill>
                  <a:srgbClr val="FFFFFF"/>
                </a:solidFill>
                <a:latin typeface="Manrope" pitchFamily="34" charset="0"/>
                <a:ea typeface="Manrope" pitchFamily="34" charset="-122"/>
                <a:cs typeface="Manrope" pitchFamily="34" charset="-120"/>
              </a:rPr>
              <a:t>Real-time updates and status synchronization.</a:t>
            </a:r>
            <a:endParaRPr lang="en-US" sz="1750" dirty="0"/>
          </a:p>
        </p:txBody>
      </p:sp>
      <p:sp>
        <p:nvSpPr>
          <p:cNvPr id="13" name="Shape 9"/>
          <p:cNvSpPr/>
          <p:nvPr/>
        </p:nvSpPr>
        <p:spPr>
          <a:xfrm>
            <a:off x="9640133" y="3336488"/>
            <a:ext cx="4196358" cy="2577108"/>
          </a:xfrm>
          <a:prstGeom prst="roundRect">
            <a:avLst>
              <a:gd name="adj" fmla="val 1320"/>
            </a:avLst>
          </a:prstGeom>
          <a:solidFill>
            <a:srgbClr val="404245"/>
          </a:solidFill>
          <a:ln/>
        </p:spPr>
      </p:sp>
      <p:sp>
        <p:nvSpPr>
          <p:cNvPr id="14" name="Shape 10"/>
          <p:cNvSpPr/>
          <p:nvPr/>
        </p:nvSpPr>
        <p:spPr>
          <a:xfrm>
            <a:off x="9866948" y="3563303"/>
            <a:ext cx="680442" cy="680442"/>
          </a:xfrm>
          <a:prstGeom prst="roundRect">
            <a:avLst>
              <a:gd name="adj" fmla="val 13436980"/>
            </a:avLst>
          </a:prstGeom>
          <a:solidFill>
            <a:srgbClr val="84482D"/>
          </a:solidFill>
          <a:ln/>
        </p:spPr>
      </p:sp>
      <p:pic>
        <p:nvPicPr>
          <p:cNvPr id="1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054114" y="3750350"/>
            <a:ext cx="306110" cy="306110"/>
          </a:xfrm>
          <a:prstGeom prst="rect">
            <a:avLst/>
          </a:prstGeom>
        </p:spPr>
      </p:pic>
      <p:sp>
        <p:nvSpPr>
          <p:cNvPr id="16" name="Text 11"/>
          <p:cNvSpPr/>
          <p:nvPr/>
        </p:nvSpPr>
        <p:spPr>
          <a:xfrm>
            <a:off x="9866948" y="4470559"/>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FFFFFF"/>
                </a:solidFill>
                <a:latin typeface="Prata" pitchFamily="34" charset="0"/>
                <a:ea typeface="Prata" pitchFamily="34" charset="-122"/>
                <a:cs typeface="Prata" pitchFamily="34" charset="-120"/>
              </a:rPr>
              <a:t>Analytics</a:t>
            </a:r>
            <a:endParaRPr lang="en-US" sz="2200" dirty="0"/>
          </a:p>
        </p:txBody>
      </p:sp>
      <p:sp>
        <p:nvSpPr>
          <p:cNvPr id="17" name="Text 12"/>
          <p:cNvSpPr/>
          <p:nvPr/>
        </p:nvSpPr>
        <p:spPr>
          <a:xfrm>
            <a:off x="9866948" y="4960977"/>
            <a:ext cx="3742730" cy="725805"/>
          </a:xfrm>
          <a:prstGeom prst="rect">
            <a:avLst/>
          </a:prstGeom>
          <a:noFill/>
          <a:ln/>
        </p:spPr>
        <p:txBody>
          <a:bodyPr wrap="square" lIns="0" tIns="0" rIns="0" bIns="0" rtlCol="0" anchor="t"/>
          <a:lstStyle/>
          <a:p>
            <a:pPr algn="l" indent="0" marL="0">
              <a:lnSpc>
                <a:spcPts val="2850"/>
              </a:lnSpc>
              <a:buNone/>
            </a:pPr>
            <a:r>
              <a:rPr lang="en-US" sz="1750" dirty="0">
                <a:solidFill>
                  <a:srgbClr val="FFFFFF"/>
                </a:solidFill>
                <a:latin typeface="Manrope" pitchFamily="34" charset="0"/>
                <a:ea typeface="Manrope" pitchFamily="34" charset="-122"/>
                <a:cs typeface="Manrope" pitchFamily="34" charset="-120"/>
              </a:rPr>
              <a:t>Automated reporting on milestone completion rates.</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30436" y="1547813"/>
            <a:ext cx="4531876" cy="5133975"/>
          </a:xfrm>
          <a:prstGeom prst="roundRect">
            <a:avLst>
              <a:gd name="adj" fmla="val 751"/>
            </a:avLst>
          </a:prstGeom>
          <a:solidFill>
            <a:srgbClr val="84482D"/>
          </a:solidFill>
          <a:ln/>
        </p:spPr>
      </p:sp>
      <p:sp>
        <p:nvSpPr>
          <p:cNvPr id="3" name="Text 1"/>
          <p:cNvSpPr/>
          <p:nvPr/>
        </p:nvSpPr>
        <p:spPr>
          <a:xfrm>
            <a:off x="857250" y="2300526"/>
            <a:ext cx="4078248" cy="566976"/>
          </a:xfrm>
          <a:prstGeom prst="rect">
            <a:avLst/>
          </a:prstGeom>
          <a:noFill/>
          <a:ln/>
        </p:spPr>
        <p:txBody>
          <a:bodyPr wrap="none" lIns="0" tIns="0" rIns="0" bIns="0" rtlCol="0" anchor="t"/>
          <a:lstStyle/>
          <a:p>
            <a:pPr algn="l" indent="0" marL="0">
              <a:lnSpc>
                <a:spcPts val="4450"/>
              </a:lnSpc>
              <a:buNone/>
            </a:pPr>
            <a:r>
              <a:rPr lang="en-US" sz="3550" dirty="0">
                <a:solidFill>
                  <a:srgbClr val="F2D4BA"/>
                </a:solidFill>
                <a:latin typeface="Prata" pitchFamily="34" charset="0"/>
                <a:ea typeface="Prata" pitchFamily="34" charset="-122"/>
                <a:cs typeface="Prata" pitchFamily="34" charset="-120"/>
              </a:rPr>
              <a:t>Security Features</a:t>
            </a:r>
            <a:endParaRPr lang="en-US" sz="3550" dirty="0"/>
          </a:p>
        </p:txBody>
      </p:sp>
      <p:sp>
        <p:nvSpPr>
          <p:cNvPr id="4" name="Text 2"/>
          <p:cNvSpPr/>
          <p:nvPr/>
        </p:nvSpPr>
        <p:spPr>
          <a:xfrm>
            <a:off x="857250" y="3094315"/>
            <a:ext cx="4078248" cy="725805"/>
          </a:xfrm>
          <a:prstGeom prst="rect">
            <a:avLst/>
          </a:prstGeom>
          <a:noFill/>
          <a:ln/>
        </p:spPr>
        <p:txBody>
          <a:bodyPr wrap="square" lIns="0" tIns="0" rIns="0" bIns="0" rtlCol="0" anchor="t"/>
          <a:lstStyle/>
          <a:p>
            <a:pPr algn="l" indent="0" marL="0">
              <a:lnSpc>
                <a:spcPts val="2850"/>
              </a:lnSpc>
              <a:buNone/>
            </a:pPr>
            <a:r>
              <a:rPr lang="en-US" sz="1750" dirty="0">
                <a:solidFill>
                  <a:srgbClr val="FFFFFF"/>
                </a:solidFill>
                <a:latin typeface="Manrope" pitchFamily="34" charset="0"/>
                <a:ea typeface="Manrope" pitchFamily="34" charset="-122"/>
                <a:cs typeface="Manrope" pitchFamily="34" charset="-120"/>
              </a:rPr>
              <a:t>Security is built into our core, not added as an afterthought. We utilize:</a:t>
            </a:r>
            <a:endParaRPr lang="en-US" sz="1750" dirty="0"/>
          </a:p>
        </p:txBody>
      </p:sp>
      <p:sp>
        <p:nvSpPr>
          <p:cNvPr id="5" name="Text 3"/>
          <p:cNvSpPr/>
          <p:nvPr/>
        </p:nvSpPr>
        <p:spPr>
          <a:xfrm>
            <a:off x="857250" y="4024193"/>
            <a:ext cx="4078248" cy="2052399"/>
          </a:xfrm>
          <a:prstGeom prst="rect">
            <a:avLst/>
          </a:prstGeom>
          <a:noFill/>
          <a:ln/>
        </p:spPr>
        <p:txBody>
          <a:bodyPr wrap="square" lIns="0" tIns="0" rIns="0" bIns="0" rtlCol="0" anchor="t"/>
          <a:lstStyle/>
          <a:p>
            <a:pPr algn="l" marL="342900" indent="-342900">
              <a:lnSpc>
                <a:spcPts val="2850"/>
              </a:lnSpc>
              <a:buSzPct val="100000"/>
              <a:buChar char="•"/>
            </a:pPr>
            <a:r>
              <a:rPr lang="en-US" sz="1750" dirty="0">
                <a:solidFill>
                  <a:srgbClr val="FFFFFF"/>
                </a:solidFill>
                <a:latin typeface="Manrope" pitchFamily="34" charset="0"/>
                <a:ea typeface="Manrope" pitchFamily="34" charset="-122"/>
                <a:cs typeface="Manrope" pitchFamily="34" charset="-120"/>
              </a:rPr>
              <a:t>JWT-based authentication tokens</a:t>
            </a:r>
            <a:endParaRPr lang="en-US" sz="1750" dirty="0"/>
          </a:p>
          <a:p>
            <a:pPr algn="l" marL="342900" indent="-342900">
              <a:lnSpc>
                <a:spcPts val="2850"/>
              </a:lnSpc>
              <a:buSzPct val="100000"/>
              <a:buChar char="•"/>
            </a:pPr>
            <a:r>
              <a:rPr lang="en-US" sz="1750" dirty="0">
                <a:solidFill>
                  <a:srgbClr val="FFFFFF"/>
                </a:solidFill>
                <a:latin typeface="Manrope" pitchFamily="34" charset="0"/>
                <a:ea typeface="Manrope" pitchFamily="34" charset="-122"/>
                <a:cs typeface="Manrope" pitchFamily="34" charset="-120"/>
              </a:rPr>
              <a:t>Role-based access control (RBAC)</a:t>
            </a:r>
            <a:endParaRPr lang="en-US" sz="1750" dirty="0"/>
          </a:p>
          <a:p>
            <a:pPr algn="l" marL="342900" indent="-342900">
              <a:lnSpc>
                <a:spcPts val="2850"/>
              </a:lnSpc>
              <a:buSzPct val="100000"/>
              <a:buChar char="•"/>
            </a:pPr>
            <a:r>
              <a:rPr lang="en-US" sz="1750" dirty="0">
                <a:solidFill>
                  <a:srgbClr val="FFFFFF"/>
                </a:solidFill>
                <a:latin typeface="Manrope" pitchFamily="34" charset="0"/>
                <a:ea typeface="Manrope" pitchFamily="34" charset="-122"/>
                <a:cs typeface="Manrope" pitchFamily="34" charset="-120"/>
              </a:rPr>
              <a:t>Encrypted data at rest and in transit</a:t>
            </a:r>
            <a:endParaRPr lang="en-US" sz="1750" dirty="0"/>
          </a:p>
          <a:p>
            <a:pPr algn="l" marL="342900" indent="-342900">
              <a:lnSpc>
                <a:spcPts val="2850"/>
              </a:lnSpc>
              <a:buSzPct val="100000"/>
              <a:buChar char="•"/>
            </a:pPr>
            <a:r>
              <a:rPr lang="en-US" sz="1750" dirty="0">
                <a:solidFill>
                  <a:srgbClr val="FFFFFF"/>
                </a:solidFill>
                <a:latin typeface="Manrope" pitchFamily="34" charset="0"/>
                <a:ea typeface="Manrope" pitchFamily="34" charset="-122"/>
                <a:cs typeface="Manrope" pitchFamily="34" charset="-120"/>
              </a:rPr>
              <a:t>Rate limiting to prevent API abuse</a:t>
            </a:r>
            <a:endParaRPr lang="en-US" sz="1750" dirty="0"/>
          </a:p>
        </p:txBody>
      </p:sp>
      <p:pic>
        <p:nvPicPr>
          <p:cNvPr id="6" name="Image 0" descr="preencoded.png">    </p:cNvPr>
          <p:cNvPicPr>
            <a:picLocks noChangeAspect="1"/>
          </p:cNvPicPr>
          <p:nvPr/>
        </p:nvPicPr>
        <p:blipFill>
          <a:blip r:embed="rId1"/>
          <a:stretch>
            <a:fillRect/>
          </a:stretch>
        </p:blipFill>
        <p:spPr>
          <a:xfrm>
            <a:off x="5559981" y="1802963"/>
            <a:ext cx="8284131" cy="462367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855232"/>
            <a:ext cx="5013127" cy="566976"/>
          </a:xfrm>
          <a:prstGeom prst="rect">
            <a:avLst/>
          </a:prstGeom>
          <a:noFill/>
          <a:ln/>
        </p:spPr>
        <p:txBody>
          <a:bodyPr wrap="none" lIns="0" tIns="0" rIns="0" bIns="0" rtlCol="0" anchor="t"/>
          <a:lstStyle/>
          <a:p>
            <a:pPr algn="l" indent="0" marL="0">
              <a:lnSpc>
                <a:spcPts val="4450"/>
              </a:lnSpc>
              <a:buNone/>
            </a:pPr>
            <a:r>
              <a:rPr lang="en-US" sz="3550" dirty="0">
                <a:solidFill>
                  <a:srgbClr val="F2D4BA"/>
                </a:solidFill>
                <a:latin typeface="Prata" pitchFamily="34" charset="0"/>
                <a:ea typeface="Prata" pitchFamily="34" charset="-122"/>
                <a:cs typeface="Prata" pitchFamily="34" charset="-120"/>
              </a:rPr>
              <a:t>Backend API Overview</a:t>
            </a:r>
            <a:endParaRPr lang="en-US" sz="3550" dirty="0"/>
          </a:p>
        </p:txBody>
      </p:sp>
      <p:sp>
        <p:nvSpPr>
          <p:cNvPr id="3" name="Shape 1"/>
          <p:cNvSpPr/>
          <p:nvPr/>
        </p:nvSpPr>
        <p:spPr>
          <a:xfrm>
            <a:off x="793790" y="2875836"/>
            <a:ext cx="13042821" cy="2154555"/>
          </a:xfrm>
          <a:prstGeom prst="roundRect">
            <a:avLst>
              <a:gd name="adj" fmla="val 1579"/>
            </a:avLst>
          </a:prstGeom>
          <a:solidFill>
            <a:srgbClr val="2E3033"/>
          </a:solidFill>
          <a:ln/>
        </p:spPr>
      </p:sp>
      <p:sp>
        <p:nvSpPr>
          <p:cNvPr id="4" name="Shape 2"/>
          <p:cNvSpPr/>
          <p:nvPr/>
        </p:nvSpPr>
        <p:spPr>
          <a:xfrm>
            <a:off x="782479" y="2875836"/>
            <a:ext cx="13065443" cy="2154555"/>
          </a:xfrm>
          <a:prstGeom prst="roundRect">
            <a:avLst>
              <a:gd name="adj" fmla="val 1579"/>
            </a:avLst>
          </a:prstGeom>
          <a:solidFill>
            <a:srgbClr val="2E3033"/>
          </a:solidFill>
          <a:ln/>
        </p:spPr>
      </p:sp>
      <p:sp>
        <p:nvSpPr>
          <p:cNvPr id="5" name="Text 3"/>
          <p:cNvSpPr/>
          <p:nvPr/>
        </p:nvSpPr>
        <p:spPr>
          <a:xfrm>
            <a:off x="1009293" y="3045857"/>
            <a:ext cx="12611814" cy="1814513"/>
          </a:xfrm>
          <a:prstGeom prst="rect">
            <a:avLst/>
          </a:prstGeom>
          <a:noFill/>
          <a:ln/>
        </p:spPr>
        <p:txBody>
          <a:bodyPr wrap="square" lIns="0" tIns="0" rIns="0" bIns="0" rtlCol="0" anchor="t"/>
          <a:lstStyle/>
          <a:p>
            <a:pPr algn="l" indent="0" marL="0">
              <a:lnSpc>
                <a:spcPts val="2850"/>
              </a:lnSpc>
              <a:buNone/>
            </a:pPr>
            <a:r>
              <a:rPr lang="en-US" sz="1750" dirty="0">
                <a:solidFill>
                  <a:srgbClr val="BDA189"/>
                </a:solidFill>
                <a:highlight>
                  <a:srgbClr val="2E3033"/>
                </a:highlight>
                <a:latin typeface="Consolas" pitchFamily="34" charset="0"/>
                <a:ea typeface="Consolas" pitchFamily="34" charset="-122"/>
                <a:cs typeface="Consolas" pitchFamily="34" charset="-120"/>
              </a:rPr>
              <a:t>GET    /api/v1/goals
POST   /api/v1/goals/create
PUT    /api/v1/goals/:id
DELETE /api/v1/goals/:id
</a:t>
            </a:r>
            <a:endParaRPr lang="en-US" sz="1750" dirty="0"/>
          </a:p>
        </p:txBody>
      </p:sp>
      <p:sp>
        <p:nvSpPr>
          <p:cNvPr id="6" name="Text 4"/>
          <p:cNvSpPr/>
          <p:nvPr/>
        </p:nvSpPr>
        <p:spPr>
          <a:xfrm>
            <a:off x="793790" y="5285542"/>
            <a:ext cx="13042821" cy="1088708"/>
          </a:xfrm>
          <a:prstGeom prst="rect">
            <a:avLst/>
          </a:prstGeom>
          <a:noFill/>
          <a:ln/>
        </p:spPr>
        <p:txBody>
          <a:bodyPr wrap="square" lIns="0" tIns="0" rIns="0" bIns="0" rtlCol="0" anchor="t"/>
          <a:lstStyle/>
          <a:p>
            <a:pPr algn="l" indent="0" marL="0">
              <a:lnSpc>
                <a:spcPts val="2850"/>
              </a:lnSpc>
              <a:buNone/>
            </a:pPr>
            <a:r>
              <a:rPr lang="en-US" sz="1750" dirty="0">
                <a:solidFill>
                  <a:srgbClr val="BDA189"/>
                </a:solidFill>
                <a:latin typeface="Manrope" pitchFamily="34" charset="0"/>
                <a:ea typeface="Manrope" pitchFamily="34" charset="-122"/>
                <a:cs typeface="Manrope" pitchFamily="34" charset="-120"/>
              </a:rPr>
              <a:t>Built with scalability in mind, our RESTful API ensures low latency and high concurrency. The infrastructure leverages modern frameworks to handle high-volume requests efficiently while maintaining strict documentation standards for easy developer integration.</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2571155"/>
            <a:ext cx="5522833" cy="566976"/>
          </a:xfrm>
          <a:prstGeom prst="rect">
            <a:avLst/>
          </a:prstGeom>
          <a:noFill/>
          <a:ln/>
        </p:spPr>
        <p:txBody>
          <a:bodyPr wrap="none" lIns="0" tIns="0" rIns="0" bIns="0" rtlCol="0" anchor="t"/>
          <a:lstStyle/>
          <a:p>
            <a:pPr algn="l" indent="0" marL="0">
              <a:lnSpc>
                <a:spcPts val="4450"/>
              </a:lnSpc>
              <a:buNone/>
            </a:pPr>
            <a:r>
              <a:rPr lang="en-US" sz="3550" dirty="0">
                <a:solidFill>
                  <a:srgbClr val="F2D4BA"/>
                </a:solidFill>
                <a:latin typeface="Prata" pitchFamily="34" charset="0"/>
                <a:ea typeface="Prata" pitchFamily="34" charset="-122"/>
                <a:cs typeface="Prata" pitchFamily="34" charset="-120"/>
              </a:rPr>
              <a:t>Advantages of the System</a:t>
            </a:r>
            <a:endParaRPr lang="en-US" sz="355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93790" y="3591758"/>
            <a:ext cx="566976" cy="566976"/>
          </a:xfrm>
          <a:prstGeom prst="rect">
            <a:avLst/>
          </a:prstGeom>
        </p:spPr>
      </p:pic>
      <p:sp>
        <p:nvSpPr>
          <p:cNvPr id="4" name="Text 1"/>
          <p:cNvSpPr/>
          <p:nvPr/>
        </p:nvSpPr>
        <p:spPr>
          <a:xfrm>
            <a:off x="793790" y="4442222"/>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BDA189"/>
                </a:solidFill>
                <a:latin typeface="Prata" pitchFamily="34" charset="0"/>
                <a:ea typeface="Prata" pitchFamily="34" charset="-122"/>
                <a:cs typeface="Prata" pitchFamily="34" charset="-120"/>
              </a:rPr>
              <a:t>High Performance</a:t>
            </a:r>
            <a:endParaRPr lang="en-US" sz="2200" dirty="0"/>
          </a:p>
        </p:txBody>
      </p:sp>
      <p:sp>
        <p:nvSpPr>
          <p:cNvPr id="5" name="Text 2"/>
          <p:cNvSpPr/>
          <p:nvPr/>
        </p:nvSpPr>
        <p:spPr>
          <a:xfrm>
            <a:off x="793790" y="4932640"/>
            <a:ext cx="4158615" cy="725805"/>
          </a:xfrm>
          <a:prstGeom prst="rect">
            <a:avLst/>
          </a:prstGeom>
          <a:noFill/>
          <a:ln/>
        </p:spPr>
        <p:txBody>
          <a:bodyPr wrap="square" lIns="0" tIns="0" rIns="0" bIns="0" rtlCol="0" anchor="t"/>
          <a:lstStyle/>
          <a:p>
            <a:pPr algn="l" indent="0" marL="0">
              <a:lnSpc>
                <a:spcPts val="2850"/>
              </a:lnSpc>
              <a:buNone/>
            </a:pPr>
            <a:r>
              <a:rPr lang="en-US" sz="1750" dirty="0">
                <a:solidFill>
                  <a:srgbClr val="BDA189"/>
                </a:solidFill>
                <a:latin typeface="Manrope" pitchFamily="34" charset="0"/>
                <a:ea typeface="Manrope" pitchFamily="34" charset="-122"/>
                <a:cs typeface="Manrope" pitchFamily="34" charset="-120"/>
              </a:rPr>
              <a:t>Optimized for rapid data retrieval and minimal latency.</a:t>
            </a:r>
            <a:endParaRPr lang="en-US" sz="17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35893" y="3591758"/>
            <a:ext cx="566976" cy="566976"/>
          </a:xfrm>
          <a:prstGeom prst="rect">
            <a:avLst/>
          </a:prstGeom>
        </p:spPr>
      </p:pic>
      <p:sp>
        <p:nvSpPr>
          <p:cNvPr id="7" name="Text 3"/>
          <p:cNvSpPr/>
          <p:nvPr/>
        </p:nvSpPr>
        <p:spPr>
          <a:xfrm>
            <a:off x="5235893" y="4442222"/>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BDA189"/>
                </a:solidFill>
                <a:latin typeface="Prata" pitchFamily="34" charset="0"/>
                <a:ea typeface="Prata" pitchFamily="34" charset="-122"/>
                <a:cs typeface="Prata" pitchFamily="34" charset="-120"/>
              </a:rPr>
              <a:t>End-to-End Security</a:t>
            </a:r>
            <a:endParaRPr lang="en-US" sz="2200" dirty="0"/>
          </a:p>
        </p:txBody>
      </p:sp>
      <p:sp>
        <p:nvSpPr>
          <p:cNvPr id="8" name="Text 4"/>
          <p:cNvSpPr/>
          <p:nvPr/>
        </p:nvSpPr>
        <p:spPr>
          <a:xfrm>
            <a:off x="5235893" y="4932640"/>
            <a:ext cx="4158615" cy="725805"/>
          </a:xfrm>
          <a:prstGeom prst="rect">
            <a:avLst/>
          </a:prstGeom>
          <a:noFill/>
          <a:ln/>
        </p:spPr>
        <p:txBody>
          <a:bodyPr wrap="square" lIns="0" tIns="0" rIns="0" bIns="0" rtlCol="0" anchor="t"/>
          <a:lstStyle/>
          <a:p>
            <a:pPr algn="l" indent="0" marL="0">
              <a:lnSpc>
                <a:spcPts val="2850"/>
              </a:lnSpc>
              <a:buNone/>
            </a:pPr>
            <a:r>
              <a:rPr lang="en-US" sz="1750" dirty="0">
                <a:solidFill>
                  <a:srgbClr val="BDA189"/>
                </a:solidFill>
                <a:latin typeface="Manrope" pitchFamily="34" charset="0"/>
                <a:ea typeface="Manrope" pitchFamily="34" charset="-122"/>
                <a:cs typeface="Manrope" pitchFamily="34" charset="-120"/>
              </a:rPr>
              <a:t>Defense-in-depth approach protecting user data.</a:t>
            </a:r>
            <a:endParaRPr lang="en-US" sz="17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677995" y="3591758"/>
            <a:ext cx="566976" cy="566976"/>
          </a:xfrm>
          <a:prstGeom prst="rect">
            <a:avLst/>
          </a:prstGeom>
        </p:spPr>
      </p:pic>
      <p:sp>
        <p:nvSpPr>
          <p:cNvPr id="10" name="Text 5"/>
          <p:cNvSpPr/>
          <p:nvPr/>
        </p:nvSpPr>
        <p:spPr>
          <a:xfrm>
            <a:off x="9677995" y="4442222"/>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BDA189"/>
                </a:solidFill>
                <a:latin typeface="Prata" pitchFamily="34" charset="0"/>
                <a:ea typeface="Prata" pitchFamily="34" charset="-122"/>
                <a:cs typeface="Prata" pitchFamily="34" charset="-120"/>
              </a:rPr>
              <a:t>Developer Friendly</a:t>
            </a:r>
            <a:endParaRPr lang="en-US" sz="2200" dirty="0"/>
          </a:p>
        </p:txBody>
      </p:sp>
      <p:sp>
        <p:nvSpPr>
          <p:cNvPr id="11" name="Text 6"/>
          <p:cNvSpPr/>
          <p:nvPr/>
        </p:nvSpPr>
        <p:spPr>
          <a:xfrm>
            <a:off x="9677995" y="4932640"/>
            <a:ext cx="4158615" cy="725805"/>
          </a:xfrm>
          <a:prstGeom prst="rect">
            <a:avLst/>
          </a:prstGeom>
          <a:noFill/>
          <a:ln/>
        </p:spPr>
        <p:txBody>
          <a:bodyPr wrap="square" lIns="0" tIns="0" rIns="0" bIns="0" rtlCol="0" anchor="t"/>
          <a:lstStyle/>
          <a:p>
            <a:pPr algn="l" indent="0" marL="0">
              <a:lnSpc>
                <a:spcPts val="2850"/>
              </a:lnSpc>
              <a:buNone/>
            </a:pPr>
            <a:r>
              <a:rPr lang="en-US" sz="1750" dirty="0">
                <a:solidFill>
                  <a:srgbClr val="BDA189"/>
                </a:solidFill>
                <a:latin typeface="Manrope" pitchFamily="34" charset="0"/>
                <a:ea typeface="Manrope" pitchFamily="34" charset="-122"/>
                <a:cs typeface="Manrope" pitchFamily="34" charset="-120"/>
              </a:rPr>
              <a:t>Intuitive endpoints and clean, documented code.</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683073"/>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F2D4BA"/>
                </a:solidFill>
                <a:latin typeface="Prata" pitchFamily="34" charset="0"/>
                <a:ea typeface="Prata" pitchFamily="34" charset="-122"/>
                <a:cs typeface="Prata" pitchFamily="34" charset="-120"/>
              </a:rPr>
              <a:t>Conclusion</a:t>
            </a:r>
            <a:endParaRPr lang="en-US" sz="4450" dirty="0"/>
          </a:p>
        </p:txBody>
      </p:sp>
      <p:sp>
        <p:nvSpPr>
          <p:cNvPr id="4" name="Text 1"/>
          <p:cNvSpPr/>
          <p:nvPr/>
        </p:nvSpPr>
        <p:spPr>
          <a:xfrm>
            <a:off x="793790" y="3732014"/>
            <a:ext cx="7556421" cy="1814513"/>
          </a:xfrm>
          <a:prstGeom prst="rect">
            <a:avLst/>
          </a:prstGeom>
          <a:noFill/>
          <a:ln/>
        </p:spPr>
        <p:txBody>
          <a:bodyPr wrap="square" lIns="0" tIns="0" rIns="0" bIns="0" rtlCol="0" anchor="t"/>
          <a:lstStyle/>
          <a:p>
            <a:pPr algn="l" indent="0" marL="0">
              <a:lnSpc>
                <a:spcPts val="2850"/>
              </a:lnSpc>
              <a:buNone/>
            </a:pPr>
            <a:r>
              <a:rPr lang="en-US" sz="1750" dirty="0">
                <a:solidFill>
                  <a:srgbClr val="BDA189"/>
                </a:solidFill>
                <a:latin typeface="Manrope" pitchFamily="34" charset="0"/>
                <a:ea typeface="Manrope" pitchFamily="34" charset="-122"/>
                <a:cs typeface="Manrope" pitchFamily="34" charset="-120"/>
              </a:rPr>
              <a:t>Microgoals represents a significant step toward smarter, more secure productivity management. By providing a reliable backend foundation, we enable developers to create applications that truly help users achieve their potential. Thank you for your time and interest in our academic project.</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2026-03-08T12:28:15Z</dcterms:created>
  <dcterms:modified xsi:type="dcterms:W3CDTF">2026-03-08T12:28:15Z</dcterms:modified>
</cp:coreProperties>
</file>